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sldIdLst>
    <p:sldId id="256" r:id="rId2"/>
    <p:sldId id="257" r:id="rId3"/>
    <p:sldId id="258" r:id="rId4"/>
    <p:sldId id="259" r:id="rId5"/>
    <p:sldId id="271" r:id="rId6"/>
    <p:sldId id="260" r:id="rId7"/>
    <p:sldId id="262" r:id="rId8"/>
    <p:sldId id="261" r:id="rId9"/>
    <p:sldId id="268" r:id="rId10"/>
    <p:sldId id="269" r:id="rId11"/>
    <p:sldId id="270" r:id="rId12"/>
    <p:sldId id="266" r:id="rId13"/>
    <p:sldId id="272" r:id="rId14"/>
    <p:sldId id="267" r:id="rId15"/>
    <p:sldId id="273" r:id="rId16"/>
    <p:sldId id="263" r:id="rId17"/>
    <p:sldId id="26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51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0000"/>
                    <a:lumOff val="10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A7FACB4A-C46D-47C8-95BF-463F9F428625}"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cxnSp>
        <p:nvCxnSpPr>
          <p:cNvPr id="8" name="Straight Connector 7"/>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21493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721469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71156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7FACB4A-C46D-47C8-95BF-463F9F428625}"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464959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89320"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7FACB4A-C46D-47C8-95BF-463F9F428625}" type="datetimeFigureOut">
              <a:rPr lang="en-IN" smtClean="0"/>
              <a:t>14-02-2026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2023785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7FACB4A-C46D-47C8-95BF-463F9F428625}" type="datetimeFigureOut">
              <a:rPr lang="en-IN" smtClean="0"/>
              <a:t>14-02-2026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18208088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7FACB4A-C46D-47C8-95BF-463F9F428625}" type="datetimeFigureOut">
              <a:rPr lang="en-IN" smtClean="0"/>
              <a:t>14-02-2026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872409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7FACB4A-C46D-47C8-95BF-463F9F428625}"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28282062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7FACB4A-C46D-47C8-95BF-463F9F428625}" type="datetimeFigureOut">
              <a:rPr lang="en-IN" smtClean="0"/>
              <a:t>14-02-2026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B2EA575-0560-4EBC-AD65-A546BB5C4677}" type="slidenum">
              <a:rPr lang="en-IN" smtClean="0"/>
              <a:t>‹#›</a:t>
            </a:fld>
            <a:endParaRPr lang="en-IN"/>
          </a:p>
        </p:txBody>
      </p:sp>
      <p:cxnSp>
        <p:nvCxnSpPr>
          <p:cNvPr id="9" name="Straight Connector 8"/>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4470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spTree>
    <p:extLst>
      <p:ext uri="{BB962C8B-B14F-4D97-AF65-F5344CB8AC3E}">
        <p14:creationId xmlns:p14="http://schemas.microsoft.com/office/powerpoint/2010/main" val="31697602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7FACB4A-C46D-47C8-95BF-463F9F428625}" type="datetimeFigureOut">
              <a:rPr lang="en-IN" smtClean="0"/>
              <a:t>14-02-2026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B2EA575-0560-4EBC-AD65-A546BB5C4677}"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18431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A7FACB4A-C46D-47C8-95BF-463F9F428625}" type="datetimeFigureOut">
              <a:rPr lang="en-IN" smtClean="0"/>
              <a:t>14-02-2026</a:t>
            </a:fld>
            <a:endParaRPr lang="en-IN"/>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en-IN"/>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EB2EA575-0560-4EBC-AD65-A546BB5C4677}"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82036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pmc.ncbi.nlm.nih.gov/articles/PMC10727773/" TargetMode="External"/><Relationship Id="rId2" Type="http://schemas.openxmlformats.org/officeDocument/2006/relationships/hyperlink" Target="https://www.mdpi.com/2414-4088/9/9/99" TargetMode="External"/><Relationship Id="rId1" Type="http://schemas.openxmlformats.org/officeDocument/2006/relationships/slideLayout" Target="../slideLayouts/slideLayout2.xml"/><Relationship Id="rId4" Type="http://schemas.openxmlformats.org/officeDocument/2006/relationships/hyperlink" Target="https://pubmed.ncbi.nlm.nih.gov/35601272/?utm_source=chatgpt.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FB14B-13FD-63D0-B558-FA2B9FA1B8F9}"/>
              </a:ext>
            </a:extLst>
          </p:cNvPr>
          <p:cNvSpPr>
            <a:spLocks noGrp="1"/>
          </p:cNvSpPr>
          <p:nvPr>
            <p:ph type="ctrTitle"/>
          </p:nvPr>
        </p:nvSpPr>
        <p:spPr>
          <a:xfrm>
            <a:off x="100756" y="3069771"/>
            <a:ext cx="12091244" cy="1680032"/>
          </a:xfrm>
        </p:spPr>
        <p:txBody>
          <a:bodyPr>
            <a:normAutofit/>
          </a:bodyPr>
          <a:lstStyle/>
          <a:p>
            <a:r>
              <a:rPr lang="en-US" dirty="0"/>
              <a:t>Focus Detection for ADHD / Learning Disorders</a:t>
            </a:r>
            <a:endParaRPr lang="en-IN" dirty="0"/>
          </a:p>
        </p:txBody>
      </p:sp>
      <p:sp>
        <p:nvSpPr>
          <p:cNvPr id="3" name="Subtitle 2">
            <a:extLst>
              <a:ext uri="{FF2B5EF4-FFF2-40B4-BE49-F238E27FC236}">
                <a16:creationId xmlns:a16="http://schemas.microsoft.com/office/drawing/2014/main" id="{33DAA6DE-3B6C-1A2F-6135-52EEA7D16507}"/>
              </a:ext>
            </a:extLst>
          </p:cNvPr>
          <p:cNvSpPr>
            <a:spLocks noGrp="1"/>
          </p:cNvSpPr>
          <p:nvPr>
            <p:ph type="subTitle" idx="1"/>
          </p:nvPr>
        </p:nvSpPr>
        <p:spPr>
          <a:xfrm>
            <a:off x="568081" y="5217548"/>
            <a:ext cx="3239387" cy="1222744"/>
          </a:xfrm>
        </p:spPr>
        <p:txBody>
          <a:bodyPr/>
          <a:lstStyle/>
          <a:p>
            <a:r>
              <a:rPr lang="en-IN" dirty="0"/>
              <a:t>Submitted By:</a:t>
            </a:r>
            <a:br>
              <a:rPr lang="en-IN" dirty="0"/>
            </a:br>
            <a:r>
              <a:rPr lang="en-IN" dirty="0"/>
              <a:t>PRIYANSHI SHARMA</a:t>
            </a:r>
          </a:p>
          <a:p>
            <a:r>
              <a:rPr lang="en-IN" dirty="0"/>
              <a:t>2427030746</a:t>
            </a:r>
          </a:p>
        </p:txBody>
      </p:sp>
      <p:sp>
        <p:nvSpPr>
          <p:cNvPr id="4" name="Subtitle 2">
            <a:extLst>
              <a:ext uri="{FF2B5EF4-FFF2-40B4-BE49-F238E27FC236}">
                <a16:creationId xmlns:a16="http://schemas.microsoft.com/office/drawing/2014/main" id="{8265C3A1-7DE8-FF2B-D7D7-6CB2859C63C2}"/>
              </a:ext>
            </a:extLst>
          </p:cNvPr>
          <p:cNvSpPr txBox="1">
            <a:spLocks/>
          </p:cNvSpPr>
          <p:nvPr/>
        </p:nvSpPr>
        <p:spPr>
          <a:xfrm>
            <a:off x="8952614" y="5627662"/>
            <a:ext cx="3239386" cy="122274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dirty="0"/>
              <a:t>Supervised By:</a:t>
            </a:r>
          </a:p>
          <a:p>
            <a:r>
              <a:rPr lang="en-IN" dirty="0"/>
              <a:t>AMIT KUMAR SIR</a:t>
            </a:r>
          </a:p>
          <a:p>
            <a:endParaRPr lang="en-IN" dirty="0"/>
          </a:p>
          <a:p>
            <a:endParaRPr lang="en-IN" dirty="0"/>
          </a:p>
        </p:txBody>
      </p:sp>
      <p:pic>
        <p:nvPicPr>
          <p:cNvPr id="8" name="Picture 7" descr="A black and white text&#10;&#10;AI-generated content may be incorrect.">
            <a:extLst>
              <a:ext uri="{FF2B5EF4-FFF2-40B4-BE49-F238E27FC236}">
                <a16:creationId xmlns:a16="http://schemas.microsoft.com/office/drawing/2014/main" id="{2AD7126F-2B55-B457-37C9-C05FFDD4D2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9" name="Title 1">
            <a:extLst>
              <a:ext uri="{FF2B5EF4-FFF2-40B4-BE49-F238E27FC236}">
                <a16:creationId xmlns:a16="http://schemas.microsoft.com/office/drawing/2014/main" id="{B8466A34-BD34-5DB1-EC2B-14EE0BD5593C}"/>
              </a:ext>
            </a:extLst>
          </p:cNvPr>
          <p:cNvSpPr txBox="1">
            <a:spLocks/>
          </p:cNvSpPr>
          <p:nvPr/>
        </p:nvSpPr>
        <p:spPr>
          <a:xfrm>
            <a:off x="1527542" y="1258784"/>
            <a:ext cx="9144000" cy="1112276"/>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IN" sz="2800" b="1" dirty="0"/>
              <a:t>School of Computer Science and Engineering</a:t>
            </a:r>
          </a:p>
          <a:p>
            <a:pPr>
              <a:lnSpc>
                <a:spcPct val="150000"/>
              </a:lnSpc>
            </a:pPr>
            <a:r>
              <a:rPr lang="en-IN" sz="2800" b="1" dirty="0"/>
              <a:t>Department of Computer Science and Engineering</a:t>
            </a:r>
          </a:p>
        </p:txBody>
      </p:sp>
    </p:spTree>
    <p:extLst>
      <p:ext uri="{BB962C8B-B14F-4D97-AF65-F5344CB8AC3E}">
        <p14:creationId xmlns:p14="http://schemas.microsoft.com/office/powerpoint/2010/main" val="380237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61AEC-0C6A-CF04-A6F2-DE0426255114}"/>
              </a:ext>
            </a:extLst>
          </p:cNvPr>
          <p:cNvSpPr>
            <a:spLocks noGrp="1"/>
          </p:cNvSpPr>
          <p:nvPr>
            <p:ph type="title"/>
          </p:nvPr>
        </p:nvSpPr>
        <p:spPr/>
        <p:txBody>
          <a:bodyPr/>
          <a:lstStyle/>
          <a:p>
            <a:r>
              <a:rPr lang="en-IN" b="1" dirty="0"/>
              <a:t>Presentation Roadmap</a:t>
            </a:r>
          </a:p>
        </p:txBody>
      </p:sp>
      <p:sp>
        <p:nvSpPr>
          <p:cNvPr id="3" name="Content Placeholder 2">
            <a:extLst>
              <a:ext uri="{FF2B5EF4-FFF2-40B4-BE49-F238E27FC236}">
                <a16:creationId xmlns:a16="http://schemas.microsoft.com/office/drawing/2014/main" id="{8E86A8CF-2937-6FE2-6F8A-377D2DF1D643}"/>
              </a:ext>
            </a:extLst>
          </p:cNvPr>
          <p:cNvSpPr>
            <a:spLocks noGrp="1"/>
          </p:cNvSpPr>
          <p:nvPr>
            <p:ph idx="1"/>
          </p:nvPr>
        </p:nvSpPr>
        <p:spPr/>
        <p:txBody>
          <a:bodyPr/>
          <a:lstStyle/>
          <a:p>
            <a:pPr>
              <a:buFont typeface="Wingdings" panose="05000000000000000000" pitchFamily="2" charset="2"/>
              <a:buChar char="v"/>
            </a:pPr>
            <a:r>
              <a:rPr lang="en-IN" dirty="0"/>
              <a:t>Introduction</a:t>
            </a:r>
          </a:p>
          <a:p>
            <a:pPr>
              <a:buFont typeface="Wingdings" panose="05000000000000000000" pitchFamily="2" charset="2"/>
              <a:buChar char="v"/>
            </a:pPr>
            <a:r>
              <a:rPr lang="en-IN" dirty="0"/>
              <a:t>Literature Review</a:t>
            </a:r>
          </a:p>
          <a:p>
            <a:pPr>
              <a:buFont typeface="Wingdings" panose="05000000000000000000" pitchFamily="2" charset="2"/>
              <a:buChar char="v"/>
            </a:pPr>
            <a:r>
              <a:rPr lang="en-IN" dirty="0"/>
              <a:t>Problem Statement</a:t>
            </a:r>
          </a:p>
          <a:p>
            <a:pPr>
              <a:buFont typeface="Wingdings" panose="05000000000000000000" pitchFamily="2" charset="2"/>
              <a:buChar char="v"/>
            </a:pPr>
            <a:r>
              <a:rPr lang="en-IN" dirty="0"/>
              <a:t>Proposed Solution</a:t>
            </a:r>
          </a:p>
          <a:p>
            <a:pPr>
              <a:buFont typeface="Wingdings" panose="05000000000000000000" pitchFamily="2" charset="2"/>
              <a:buChar char="v"/>
            </a:pPr>
            <a:r>
              <a:rPr lang="en-IN" dirty="0"/>
              <a:t>Objectives</a:t>
            </a:r>
          </a:p>
          <a:p>
            <a:pPr>
              <a:buFont typeface="Wingdings" panose="05000000000000000000" pitchFamily="2" charset="2"/>
              <a:buChar char="v"/>
            </a:pPr>
            <a:r>
              <a:rPr lang="en-IN" dirty="0"/>
              <a:t>Experimental Results</a:t>
            </a:r>
          </a:p>
          <a:p>
            <a:pPr>
              <a:buFont typeface="Wingdings" panose="05000000000000000000" pitchFamily="2" charset="2"/>
              <a:buChar char="v"/>
            </a:pPr>
            <a:r>
              <a:rPr lang="en-IN" dirty="0"/>
              <a:t>Achievements &amp; Future Scope</a:t>
            </a:r>
          </a:p>
          <a:p>
            <a:pPr>
              <a:buFont typeface="Wingdings" panose="05000000000000000000" pitchFamily="2" charset="2"/>
              <a:buChar char="v"/>
            </a:pPr>
            <a:endParaRPr lang="en-IN" dirty="0"/>
          </a:p>
        </p:txBody>
      </p:sp>
    </p:spTree>
    <p:extLst>
      <p:ext uri="{BB962C8B-B14F-4D97-AF65-F5344CB8AC3E}">
        <p14:creationId xmlns:p14="http://schemas.microsoft.com/office/powerpoint/2010/main" val="40472198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5A96B-B72E-0C72-F61B-C99183D10D26}"/>
              </a:ext>
            </a:extLst>
          </p:cNvPr>
          <p:cNvSpPr>
            <a:spLocks noGrp="1"/>
          </p:cNvSpPr>
          <p:nvPr>
            <p:ph type="title"/>
          </p:nvPr>
        </p:nvSpPr>
        <p:spPr/>
        <p:txBody>
          <a:bodyPr/>
          <a:lstStyle/>
          <a:p>
            <a:r>
              <a:rPr lang="en-IN" b="1" dirty="0"/>
              <a:t>Introduction</a:t>
            </a:r>
          </a:p>
        </p:txBody>
      </p:sp>
      <p:sp>
        <p:nvSpPr>
          <p:cNvPr id="3" name="Content Placeholder 2">
            <a:extLst>
              <a:ext uri="{FF2B5EF4-FFF2-40B4-BE49-F238E27FC236}">
                <a16:creationId xmlns:a16="http://schemas.microsoft.com/office/drawing/2014/main" id="{E031CBD1-1236-BD10-F9B4-E2675BA38ED1}"/>
              </a:ext>
            </a:extLst>
          </p:cNvPr>
          <p:cNvSpPr>
            <a:spLocks noGrp="1"/>
          </p:cNvSpPr>
          <p:nvPr>
            <p:ph idx="1"/>
          </p:nvPr>
        </p:nvSpPr>
        <p:spPr/>
        <p:txBody>
          <a:bodyPr>
            <a:normAutofit fontScale="92500" lnSpcReduction="10000"/>
          </a:bodyPr>
          <a:lstStyle/>
          <a:p>
            <a:pPr marL="0" indent="0">
              <a:buNone/>
            </a:pPr>
            <a:r>
              <a:rPr lang="en-US" b="1" dirty="0"/>
              <a:t> Background</a:t>
            </a:r>
            <a:br>
              <a:rPr lang="en-US" dirty="0"/>
            </a:br>
            <a:r>
              <a:rPr lang="en-US" dirty="0"/>
              <a:t>• Cognitive overload reduces comprehension and increases mental fatigue.</a:t>
            </a:r>
            <a:br>
              <a:rPr lang="en-US" dirty="0"/>
            </a:br>
            <a:r>
              <a:rPr lang="en-US" dirty="0"/>
              <a:t>• Traditional learning platforms do not adapt to real-time attention levels.</a:t>
            </a:r>
          </a:p>
          <a:p>
            <a:pPr marL="0" indent="0">
              <a:buNone/>
            </a:pPr>
            <a:endParaRPr lang="en-US" dirty="0"/>
          </a:p>
          <a:p>
            <a:pPr marL="0" indent="0">
              <a:buNone/>
            </a:pPr>
            <a:r>
              <a:rPr lang="en-US" b="1" dirty="0"/>
              <a:t>Gap</a:t>
            </a:r>
          </a:p>
          <a:p>
            <a:pPr marL="0" indent="0">
              <a:buNone/>
            </a:pPr>
            <a:r>
              <a:rPr lang="en-US" dirty="0"/>
              <a:t>• Existing solutions rely on expensive EEG or eye-tracking hardware.</a:t>
            </a:r>
            <a:br>
              <a:rPr lang="en-US" dirty="0"/>
            </a:br>
            <a:r>
              <a:rPr lang="en-US" dirty="0"/>
              <a:t>• There is a need for a low-cost, accessible alternative.</a:t>
            </a:r>
          </a:p>
          <a:p>
            <a:pPr marL="0" indent="0">
              <a:buNone/>
            </a:pPr>
            <a:endParaRPr lang="en-US" dirty="0"/>
          </a:p>
          <a:p>
            <a:pPr marL="0" indent="0">
              <a:buNone/>
            </a:pPr>
            <a:r>
              <a:rPr lang="en-US" b="1" dirty="0"/>
              <a:t>Our Approach</a:t>
            </a:r>
          </a:p>
          <a:p>
            <a:pPr marL="0" indent="0">
              <a:buNone/>
            </a:pPr>
            <a:r>
              <a:rPr lang="en-US" dirty="0"/>
              <a:t>• Develop a browser-based behavioral monitoring system</a:t>
            </a:r>
            <a:br>
              <a:rPr lang="en-US" dirty="0"/>
            </a:br>
            <a:r>
              <a:rPr lang="en-US" dirty="0"/>
              <a:t>• Estimate focus and cognitive load using interaction patterns</a:t>
            </a:r>
          </a:p>
          <a:p>
            <a:pPr marL="0" indent="0">
              <a:buNone/>
            </a:pPr>
            <a:endParaRPr lang="en-IN" dirty="0"/>
          </a:p>
        </p:txBody>
      </p:sp>
    </p:spTree>
    <p:extLst>
      <p:ext uri="{BB962C8B-B14F-4D97-AF65-F5344CB8AC3E}">
        <p14:creationId xmlns:p14="http://schemas.microsoft.com/office/powerpoint/2010/main" val="2878976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85647D-9B85-4135-FDC8-4412998CA206}"/>
              </a:ext>
            </a:extLst>
          </p:cNvPr>
          <p:cNvSpPr>
            <a:spLocks noGrp="1"/>
          </p:cNvSpPr>
          <p:nvPr>
            <p:ph type="title"/>
          </p:nvPr>
        </p:nvSpPr>
        <p:spPr/>
        <p:txBody>
          <a:bodyPr/>
          <a:lstStyle/>
          <a:p>
            <a:r>
              <a:rPr lang="en-IN" b="1" dirty="0"/>
              <a:t>Literature Review</a:t>
            </a:r>
          </a:p>
        </p:txBody>
      </p:sp>
      <p:sp>
        <p:nvSpPr>
          <p:cNvPr id="3" name="Content Placeholder 2">
            <a:extLst>
              <a:ext uri="{FF2B5EF4-FFF2-40B4-BE49-F238E27FC236}">
                <a16:creationId xmlns:a16="http://schemas.microsoft.com/office/drawing/2014/main" id="{7485F665-7E3B-0A75-0EE5-8FA0D35D261D}"/>
              </a:ext>
            </a:extLst>
          </p:cNvPr>
          <p:cNvSpPr>
            <a:spLocks noGrp="1"/>
          </p:cNvSpPr>
          <p:nvPr>
            <p:ph idx="1"/>
          </p:nvPr>
        </p:nvSpPr>
        <p:spPr/>
        <p:txBody>
          <a:bodyPr>
            <a:normAutofit/>
          </a:bodyPr>
          <a:lstStyle/>
          <a:p>
            <a:pPr marL="0" indent="0">
              <a:buNone/>
            </a:pPr>
            <a:r>
              <a:rPr lang="en-US" b="1" dirty="0"/>
              <a:t>Study 1:</a:t>
            </a:r>
            <a:r>
              <a:rPr lang="en-US" dirty="0"/>
              <a:t> </a:t>
            </a:r>
            <a:r>
              <a:rPr lang="en-US" i="1" dirty="0"/>
              <a:t>EEG-based Focus Detection in E-learning</a:t>
            </a:r>
            <a:r>
              <a:rPr lang="en-US" dirty="0"/>
              <a:t> (Smith et al., 2022) – achieved </a:t>
            </a:r>
            <a:r>
              <a:rPr lang="en-US" b="1" dirty="0"/>
              <a:t>85% accuracy</a:t>
            </a:r>
            <a:r>
              <a:rPr lang="en-US" dirty="0"/>
              <a:t> in predicting learner attention using brainwave signals.</a:t>
            </a:r>
          </a:p>
          <a:p>
            <a:pPr marL="0" indent="0">
              <a:buNone/>
            </a:pPr>
            <a:r>
              <a:rPr lang="en-US" b="1" dirty="0"/>
              <a:t>Study 2:</a:t>
            </a:r>
            <a:r>
              <a:rPr lang="en-US" dirty="0"/>
              <a:t> </a:t>
            </a:r>
            <a:r>
              <a:rPr lang="en-US" i="1" dirty="0"/>
              <a:t>Eye-Tracking for ADHD Learners</a:t>
            </a:r>
            <a:r>
              <a:rPr lang="en-US" dirty="0"/>
              <a:t> (Chen et al., 2021) – identified </a:t>
            </a:r>
            <a:r>
              <a:rPr lang="en-US" b="1" dirty="0"/>
              <a:t>visual focus loss patterns</a:t>
            </a:r>
            <a:r>
              <a:rPr lang="en-US" dirty="0"/>
              <a:t> that correlate with task disengagement.</a:t>
            </a:r>
          </a:p>
          <a:p>
            <a:pPr marL="0" indent="0">
              <a:buNone/>
            </a:pPr>
            <a:r>
              <a:rPr lang="en-US" b="1" dirty="0"/>
              <a:t>Study 3:</a:t>
            </a:r>
            <a:r>
              <a:rPr lang="en-US" dirty="0"/>
              <a:t> </a:t>
            </a:r>
            <a:r>
              <a:rPr lang="en-US" i="1" dirty="0"/>
              <a:t>Cognitive Load Theory in Learning Design</a:t>
            </a:r>
            <a:r>
              <a:rPr lang="en-US" dirty="0"/>
              <a:t> (</a:t>
            </a:r>
            <a:r>
              <a:rPr lang="en-US" dirty="0" err="1"/>
              <a:t>Sweller</a:t>
            </a:r>
            <a:r>
              <a:rPr lang="en-US" dirty="0"/>
              <a:t>, 1988) – provided the </a:t>
            </a:r>
            <a:r>
              <a:rPr lang="en-US" b="1" dirty="0"/>
              <a:t>theoretical foundation</a:t>
            </a:r>
            <a:r>
              <a:rPr lang="en-US" dirty="0"/>
              <a:t> for adaptive learning based on mental effort and working memory.</a:t>
            </a:r>
          </a:p>
          <a:p>
            <a:pPr marL="0" indent="0">
              <a:buNone/>
            </a:pPr>
            <a:endParaRPr lang="en-IN" dirty="0"/>
          </a:p>
        </p:txBody>
      </p:sp>
    </p:spTree>
    <p:extLst>
      <p:ext uri="{BB962C8B-B14F-4D97-AF65-F5344CB8AC3E}">
        <p14:creationId xmlns:p14="http://schemas.microsoft.com/office/powerpoint/2010/main" val="3103081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1CAF07-DEAA-5200-F09D-524E4F223458}"/>
              </a:ext>
            </a:extLst>
          </p:cNvPr>
          <p:cNvSpPr>
            <a:spLocks noGrp="1"/>
          </p:cNvSpPr>
          <p:nvPr>
            <p:ph idx="1"/>
          </p:nvPr>
        </p:nvSpPr>
        <p:spPr>
          <a:xfrm>
            <a:off x="555171" y="669471"/>
            <a:ext cx="10798629" cy="5507492"/>
          </a:xfrm>
        </p:spPr>
        <p:txBody>
          <a:bodyPr>
            <a:normAutofit/>
          </a:bodyPr>
          <a:lstStyle/>
          <a:p>
            <a:pPr marL="0" indent="0">
              <a:buNone/>
            </a:pPr>
            <a:r>
              <a:rPr lang="en-US" b="1" dirty="0"/>
              <a:t>Study 4: </a:t>
            </a:r>
            <a:r>
              <a:rPr lang="en-US" dirty="0"/>
              <a:t>EEG and eye-tracking studies have demonstrated that physiological indicators like brain waves, blink rate, and gaze patterns can be used to measure cognitive load and attention levels (</a:t>
            </a:r>
            <a:r>
              <a:rPr lang="en-US" i="1" dirty="0"/>
              <a:t>Assessing Cognitive Load Using EEG and Eye-Tracking</a:t>
            </a:r>
            <a:r>
              <a:rPr lang="en-US" dirty="0"/>
              <a:t>, MDPI, 2025: </a:t>
            </a:r>
            <a:r>
              <a:rPr lang="en-US" dirty="0">
                <a:hlinkClick r:id="rId2"/>
              </a:rPr>
              <a:t>https://www.mdpi.com/2414-4088/9/9/99</a:t>
            </a:r>
            <a:r>
              <a:rPr lang="en-US" dirty="0"/>
              <a:t>).</a:t>
            </a:r>
          </a:p>
          <a:p>
            <a:pPr marL="0" indent="0">
              <a:buNone/>
            </a:pPr>
            <a:r>
              <a:rPr lang="en-US" b="1" dirty="0"/>
              <a:t>Study 5: </a:t>
            </a:r>
            <a:r>
              <a:rPr lang="en-US" dirty="0"/>
              <a:t>According to research, people with ADHD exhibit more performance variability when faced with a higher cognitive load (</a:t>
            </a:r>
            <a:r>
              <a:rPr lang="en-US" i="1" dirty="0"/>
              <a:t>Cognitive and Perceptual Load Effects in ADHD</a:t>
            </a:r>
            <a:r>
              <a:rPr lang="en-US" dirty="0"/>
              <a:t>, Network Neuroscience, 2023: </a:t>
            </a:r>
            <a:r>
              <a:rPr lang="en-US" dirty="0">
                <a:hlinkClick r:id="rId3"/>
              </a:rPr>
              <a:t>https://pmc.ncbi.nlm.nih.gov/articles/PMC10727773/</a:t>
            </a:r>
            <a:r>
              <a:rPr lang="en-US" dirty="0"/>
              <a:t>)</a:t>
            </a:r>
          </a:p>
          <a:p>
            <a:pPr marL="0" indent="0">
              <a:buNone/>
            </a:pPr>
            <a:r>
              <a:rPr lang="en-US" b="1" dirty="0"/>
              <a:t>Study 6: </a:t>
            </a:r>
            <a:r>
              <a:rPr lang="en-US" dirty="0"/>
              <a:t>Non-invasive methods for identifying attention states include behavior-based techniques like tracking eye movement, interaction patterns, and task engagement (</a:t>
            </a:r>
            <a:r>
              <a:rPr lang="en-US" i="1" dirty="0"/>
              <a:t>Measuring Attentional Distraction with Eye-Tracking</a:t>
            </a:r>
            <a:r>
              <a:rPr lang="en-US" dirty="0"/>
              <a:t>, PubMed, 2022: </a:t>
            </a:r>
            <a:r>
              <a:rPr lang="en-US" dirty="0">
                <a:hlinkClick r:id="rId4"/>
              </a:rPr>
              <a:t>https://pubmed.ncbi.nlm.nih.gov/35601272/</a:t>
            </a:r>
            <a:r>
              <a:rPr lang="en-US" dirty="0"/>
              <a:t>).</a:t>
            </a:r>
            <a:endParaRPr lang="en-IN" dirty="0"/>
          </a:p>
        </p:txBody>
      </p:sp>
    </p:spTree>
    <p:extLst>
      <p:ext uri="{BB962C8B-B14F-4D97-AF65-F5344CB8AC3E}">
        <p14:creationId xmlns:p14="http://schemas.microsoft.com/office/powerpoint/2010/main" val="12129255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A1533-4BE1-DF5E-D485-BD167C2BD85D}"/>
              </a:ext>
            </a:extLst>
          </p:cNvPr>
          <p:cNvSpPr>
            <a:spLocks noGrp="1"/>
          </p:cNvSpPr>
          <p:nvPr>
            <p:ph type="title"/>
          </p:nvPr>
        </p:nvSpPr>
        <p:spPr/>
        <p:txBody>
          <a:bodyPr/>
          <a:lstStyle/>
          <a:p>
            <a:r>
              <a:rPr lang="en-IN" b="1" dirty="0"/>
              <a:t>Problem Statement</a:t>
            </a:r>
          </a:p>
        </p:txBody>
      </p:sp>
      <p:sp>
        <p:nvSpPr>
          <p:cNvPr id="4" name="Rectangle 1">
            <a:extLst>
              <a:ext uri="{FF2B5EF4-FFF2-40B4-BE49-F238E27FC236}">
                <a16:creationId xmlns:a16="http://schemas.microsoft.com/office/drawing/2014/main" id="{505EBBF2-4F50-0491-B32C-1733457B80B9}"/>
              </a:ext>
            </a:extLst>
          </p:cNvPr>
          <p:cNvSpPr>
            <a:spLocks noGrp="1" noChangeArrowheads="1"/>
          </p:cNvSpPr>
          <p:nvPr>
            <p:ph idx="1"/>
          </p:nvPr>
        </p:nvSpPr>
        <p:spPr bwMode="auto">
          <a:xfrm>
            <a:off x="536448" y="1606525"/>
            <a:ext cx="10216896" cy="3489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400" dirty="0"/>
              <a:t>During learning tasks, students with learning disorders and ADHD experience increased cognitive load and erratic attention. Real-time systems to identify attention lapses or mental overload are absent from current educational platforms. EEG and eye tracking are examples of physiological detection systems that are too expensive and impractical for general use.</a:t>
            </a:r>
          </a:p>
          <a:p>
            <a:r>
              <a:rPr lang="en-US" sz="2400" dirty="0"/>
              <a:t>In order to enhance learning outcomes, a low-cost, non-invasive system that uses behavioral signals to estimate focus and cognitive load and offers adaptive feedback is required.</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74707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C66CBD-FC59-BE59-2070-B5315E2C8921}"/>
              </a:ext>
            </a:extLst>
          </p:cNvPr>
          <p:cNvSpPr>
            <a:spLocks noGrp="1"/>
          </p:cNvSpPr>
          <p:nvPr>
            <p:ph type="title"/>
          </p:nvPr>
        </p:nvSpPr>
        <p:spPr/>
        <p:txBody>
          <a:bodyPr/>
          <a:lstStyle/>
          <a:p>
            <a:r>
              <a:rPr lang="en-IN" b="1" dirty="0"/>
              <a:t>Objectives</a:t>
            </a:r>
          </a:p>
        </p:txBody>
      </p:sp>
      <p:sp>
        <p:nvSpPr>
          <p:cNvPr id="3" name="Content Placeholder 2">
            <a:extLst>
              <a:ext uri="{FF2B5EF4-FFF2-40B4-BE49-F238E27FC236}">
                <a16:creationId xmlns:a16="http://schemas.microsoft.com/office/drawing/2014/main" id="{CE3E25AA-71BA-D0F6-3993-32491BD06DD7}"/>
              </a:ext>
            </a:extLst>
          </p:cNvPr>
          <p:cNvSpPr>
            <a:spLocks noGrp="1"/>
          </p:cNvSpPr>
          <p:nvPr>
            <p:ph idx="1"/>
          </p:nvPr>
        </p:nvSpPr>
        <p:spPr>
          <a:xfrm>
            <a:off x="838200" y="1858283"/>
            <a:ext cx="10515600" cy="4351338"/>
          </a:xfrm>
        </p:spPr>
        <p:txBody>
          <a:bodyPr/>
          <a:lstStyle/>
          <a:p>
            <a:r>
              <a:rPr lang="en-US" dirty="0"/>
              <a:t>Main Goal: Design a system that detects when attention drops or cognitive load increases, and responds accordingly.</a:t>
            </a:r>
          </a:p>
          <a:p>
            <a:endParaRPr lang="en-US" dirty="0"/>
          </a:p>
          <a:p>
            <a:r>
              <a:rPr lang="en-US" dirty="0"/>
              <a:t>Specific Objectives:</a:t>
            </a:r>
          </a:p>
          <a:p>
            <a:pPr marL="0" indent="0">
              <a:buNone/>
            </a:pPr>
            <a:r>
              <a:rPr lang="en-US" dirty="0"/>
              <a:t>1. Monitor physiological and behavioral indicators of focus.</a:t>
            </a:r>
          </a:p>
          <a:p>
            <a:pPr marL="0" indent="0">
              <a:buNone/>
            </a:pPr>
            <a:r>
              <a:rPr lang="en-US" dirty="0"/>
              <a:t>2. Provide real-time feedback or environmental adjustments.</a:t>
            </a:r>
          </a:p>
          <a:p>
            <a:pPr marL="0" indent="0">
              <a:buNone/>
            </a:pPr>
            <a:r>
              <a:rPr lang="en-US" dirty="0"/>
              <a:t>3. Enhance engagement and reduce cognitive fatigue.</a:t>
            </a:r>
          </a:p>
          <a:p>
            <a:pPr marL="0" indent="0">
              <a:buNone/>
            </a:pPr>
            <a:endParaRPr lang="en-IN" dirty="0"/>
          </a:p>
        </p:txBody>
      </p:sp>
    </p:spTree>
    <p:extLst>
      <p:ext uri="{BB962C8B-B14F-4D97-AF65-F5344CB8AC3E}">
        <p14:creationId xmlns:p14="http://schemas.microsoft.com/office/powerpoint/2010/main" val="35470978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2C796-D371-7EE6-056A-4956DC25840D}"/>
              </a:ext>
            </a:extLst>
          </p:cNvPr>
          <p:cNvSpPr>
            <a:spLocks noGrp="1"/>
          </p:cNvSpPr>
          <p:nvPr>
            <p:ph type="title"/>
          </p:nvPr>
        </p:nvSpPr>
        <p:spPr/>
        <p:txBody>
          <a:bodyPr/>
          <a:lstStyle/>
          <a:p>
            <a:r>
              <a:rPr lang="en-IN" dirty="0"/>
              <a:t>Proposed Methodology </a:t>
            </a:r>
          </a:p>
        </p:txBody>
      </p:sp>
      <p:sp>
        <p:nvSpPr>
          <p:cNvPr id="3" name="Content Placeholder 2">
            <a:extLst>
              <a:ext uri="{FF2B5EF4-FFF2-40B4-BE49-F238E27FC236}">
                <a16:creationId xmlns:a16="http://schemas.microsoft.com/office/drawing/2014/main" id="{F7E7EF98-E6AD-70D5-2BE9-3A859F15DFF4}"/>
              </a:ext>
            </a:extLst>
          </p:cNvPr>
          <p:cNvSpPr>
            <a:spLocks noGrp="1"/>
          </p:cNvSpPr>
          <p:nvPr>
            <p:ph idx="1"/>
          </p:nvPr>
        </p:nvSpPr>
        <p:spPr/>
        <p:txBody>
          <a:bodyPr>
            <a:normAutofit fontScale="77500" lnSpcReduction="20000"/>
          </a:bodyPr>
          <a:lstStyle/>
          <a:p>
            <a:pPr marL="0" indent="0">
              <a:buNone/>
            </a:pPr>
            <a:r>
              <a:rPr lang="en-US" b="1" dirty="0"/>
              <a:t>Step 1: Data Collection</a:t>
            </a:r>
          </a:p>
          <a:p>
            <a:r>
              <a:rPr lang="en-US" dirty="0"/>
              <a:t>Behavioral data is collected from the user during learning tasks, such as:</a:t>
            </a:r>
          </a:p>
          <a:p>
            <a:r>
              <a:rPr lang="en-US" dirty="0"/>
              <a:t>Typing speed</a:t>
            </a:r>
          </a:p>
          <a:p>
            <a:r>
              <a:rPr lang="en-US" dirty="0"/>
              <a:t>Mouse movement</a:t>
            </a:r>
          </a:p>
          <a:p>
            <a:r>
              <a:rPr lang="en-US" dirty="0"/>
              <a:t>Idle time</a:t>
            </a:r>
          </a:p>
          <a:p>
            <a:r>
              <a:rPr lang="en-US" dirty="0"/>
              <a:t>Tab switching frequency</a:t>
            </a:r>
          </a:p>
          <a:p>
            <a:pPr marL="0" indent="0">
              <a:buNone/>
            </a:pPr>
            <a:r>
              <a:rPr lang="en-US" b="1" dirty="0"/>
              <a:t>Software / Tools Used:</a:t>
            </a:r>
            <a:endParaRPr lang="en-US" dirty="0"/>
          </a:p>
          <a:p>
            <a:r>
              <a:rPr lang="en-US" dirty="0"/>
              <a:t>HTML (for webpage interface)</a:t>
            </a:r>
          </a:p>
          <a:p>
            <a:r>
              <a:rPr lang="en-US" dirty="0"/>
              <a:t>CSS (for layout design)</a:t>
            </a:r>
          </a:p>
          <a:p>
            <a:r>
              <a:rPr lang="en-US" dirty="0"/>
              <a:t>JavaScript (for tracking keyboard, mouse, and tab activity)</a:t>
            </a:r>
          </a:p>
          <a:p>
            <a:r>
              <a:rPr lang="en-US" dirty="0"/>
              <a:t>Browser APIs (visibility API for tab switching detection)</a:t>
            </a:r>
          </a:p>
          <a:p>
            <a:pPr marL="0" indent="0">
              <a:buNone/>
            </a:pPr>
            <a:endParaRPr lang="en-IN" dirty="0"/>
          </a:p>
        </p:txBody>
      </p:sp>
    </p:spTree>
    <p:extLst>
      <p:ext uri="{BB962C8B-B14F-4D97-AF65-F5344CB8AC3E}">
        <p14:creationId xmlns:p14="http://schemas.microsoft.com/office/powerpoint/2010/main" val="1077724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70A969A-D8AA-B34D-B8B5-2DE4330F7FF1}"/>
              </a:ext>
            </a:extLst>
          </p:cNvPr>
          <p:cNvSpPr>
            <a:spLocks noGrp="1"/>
          </p:cNvSpPr>
          <p:nvPr>
            <p:ph idx="1"/>
          </p:nvPr>
        </p:nvSpPr>
        <p:spPr>
          <a:xfrm>
            <a:off x="359229" y="1203551"/>
            <a:ext cx="10994571" cy="5654449"/>
          </a:xfrm>
        </p:spPr>
        <p:txBody>
          <a:bodyPr>
            <a:normAutofit/>
          </a:bodyPr>
          <a:lstStyle/>
          <a:p>
            <a:r>
              <a:rPr lang="en-IN" b="1" dirty="0"/>
              <a:t>Step 2: Feature Analysis</a:t>
            </a:r>
          </a:p>
          <a:p>
            <a:r>
              <a:rPr lang="en-IN" dirty="0"/>
              <a:t>The collected </a:t>
            </a:r>
            <a:r>
              <a:rPr lang="en-IN" dirty="0" err="1"/>
              <a:t>behavioral</a:t>
            </a:r>
            <a:r>
              <a:rPr lang="en-IN" dirty="0"/>
              <a:t> signals are </a:t>
            </a:r>
            <a:r>
              <a:rPr lang="en-IN" dirty="0" err="1"/>
              <a:t>analyzed</a:t>
            </a:r>
            <a:r>
              <a:rPr lang="en-IN" dirty="0"/>
              <a:t> to identify patterns that indicate:</a:t>
            </a:r>
          </a:p>
          <a:p>
            <a:r>
              <a:rPr lang="en-IN" dirty="0"/>
              <a:t>Focused state</a:t>
            </a:r>
          </a:p>
          <a:p>
            <a:r>
              <a:rPr lang="en-IN" dirty="0"/>
              <a:t>Attention lapse</a:t>
            </a:r>
          </a:p>
          <a:p>
            <a:r>
              <a:rPr lang="en-IN" dirty="0"/>
              <a:t>Cognitive overload</a:t>
            </a:r>
          </a:p>
          <a:p>
            <a:r>
              <a:rPr lang="en-IN" b="1" dirty="0"/>
              <a:t>Software / Tools Used:</a:t>
            </a:r>
            <a:endParaRPr lang="en-IN" dirty="0"/>
          </a:p>
          <a:p>
            <a:r>
              <a:rPr lang="en-IN" dirty="0"/>
              <a:t>JavaScript logic functions</a:t>
            </a:r>
          </a:p>
          <a:p>
            <a:r>
              <a:rPr lang="en-IN" dirty="0"/>
              <a:t>Browser event listeners</a:t>
            </a:r>
          </a:p>
        </p:txBody>
      </p:sp>
    </p:spTree>
    <p:extLst>
      <p:ext uri="{BB962C8B-B14F-4D97-AF65-F5344CB8AC3E}">
        <p14:creationId xmlns:p14="http://schemas.microsoft.com/office/powerpoint/2010/main" val="1720046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43CFCB-79B9-7DE6-FA43-EF3D3079D31D}"/>
              </a:ext>
            </a:extLst>
          </p:cNvPr>
          <p:cNvSpPr>
            <a:spLocks noGrp="1"/>
          </p:cNvSpPr>
          <p:nvPr>
            <p:ph idx="1"/>
          </p:nvPr>
        </p:nvSpPr>
        <p:spPr>
          <a:xfrm>
            <a:off x="609599" y="470353"/>
            <a:ext cx="10902043" cy="5718176"/>
          </a:xfrm>
        </p:spPr>
        <p:txBody>
          <a:bodyPr>
            <a:normAutofit/>
          </a:bodyPr>
          <a:lstStyle/>
          <a:p>
            <a:pPr marL="0" indent="0">
              <a:buNone/>
            </a:pPr>
            <a:r>
              <a:rPr lang="en-US" b="1" dirty="0"/>
              <a:t>Step 3: Focus Score Calculation</a:t>
            </a:r>
          </a:p>
          <a:p>
            <a:r>
              <a:rPr lang="en-US" dirty="0"/>
              <a:t>A rule-based scoring mechanism is applied to compute a </a:t>
            </a:r>
            <a:r>
              <a:rPr lang="en-US" b="1" dirty="0"/>
              <a:t>Focus Score</a:t>
            </a:r>
            <a:r>
              <a:rPr lang="en-US" dirty="0"/>
              <a:t> based on:</a:t>
            </a:r>
          </a:p>
          <a:p>
            <a:r>
              <a:rPr lang="en-US" dirty="0"/>
              <a:t>Interaction frequency</a:t>
            </a:r>
          </a:p>
          <a:p>
            <a:r>
              <a:rPr lang="en-US" dirty="0"/>
              <a:t>Inactivity duration</a:t>
            </a:r>
          </a:p>
          <a:p>
            <a:r>
              <a:rPr lang="en-US" dirty="0"/>
              <a:t>Distraction indicators</a:t>
            </a:r>
          </a:p>
          <a:p>
            <a:pPr marL="0" indent="0">
              <a:buNone/>
            </a:pPr>
            <a:endParaRPr lang="en-US" dirty="0"/>
          </a:p>
          <a:p>
            <a:pPr marL="0" indent="0">
              <a:buNone/>
            </a:pPr>
            <a:r>
              <a:rPr lang="en-US" b="1" dirty="0"/>
              <a:t>Step 4: Cognitive Load Estimation</a:t>
            </a:r>
          </a:p>
          <a:p>
            <a:r>
              <a:rPr lang="en-US" dirty="0"/>
              <a:t>Cognitive load level (Low / Medium / High) is estimated based on behavioral patterns and engagement changes.</a:t>
            </a:r>
          </a:p>
          <a:p>
            <a:pPr marL="0" indent="0">
              <a:buNone/>
            </a:pPr>
            <a:r>
              <a:rPr lang="en-US" b="1" dirty="0"/>
              <a:t>Software / Tools Used:</a:t>
            </a:r>
            <a:endParaRPr lang="en-US" dirty="0"/>
          </a:p>
          <a:p>
            <a:r>
              <a:rPr lang="en-US" dirty="0"/>
              <a:t>JavaScript conditional logic</a:t>
            </a:r>
          </a:p>
          <a:p>
            <a:r>
              <a:rPr lang="en-US" dirty="0"/>
              <a:t>Threshold-based classification</a:t>
            </a:r>
          </a:p>
          <a:p>
            <a:pPr marL="0" indent="0">
              <a:buNone/>
            </a:pPr>
            <a:endParaRPr lang="en-US" dirty="0"/>
          </a:p>
          <a:p>
            <a:endParaRPr lang="en-IN" dirty="0"/>
          </a:p>
        </p:txBody>
      </p:sp>
    </p:spTree>
    <p:extLst>
      <p:ext uri="{BB962C8B-B14F-4D97-AF65-F5344CB8AC3E}">
        <p14:creationId xmlns:p14="http://schemas.microsoft.com/office/powerpoint/2010/main" val="3535761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CFE87F-F264-86CC-16EB-5591CA91729B}"/>
              </a:ext>
            </a:extLst>
          </p:cNvPr>
          <p:cNvSpPr>
            <a:spLocks noGrp="1"/>
          </p:cNvSpPr>
          <p:nvPr>
            <p:ph idx="1"/>
          </p:nvPr>
        </p:nvSpPr>
        <p:spPr>
          <a:xfrm>
            <a:off x="489857" y="963386"/>
            <a:ext cx="10863943" cy="5213577"/>
          </a:xfrm>
        </p:spPr>
        <p:txBody>
          <a:bodyPr>
            <a:normAutofit/>
          </a:bodyPr>
          <a:lstStyle/>
          <a:p>
            <a:pPr marL="0" indent="0">
              <a:buNone/>
            </a:pPr>
            <a:r>
              <a:rPr lang="en-IN" b="1" dirty="0"/>
              <a:t>Step 5: Adaptive Feedback</a:t>
            </a:r>
          </a:p>
          <a:p>
            <a:r>
              <a:rPr lang="en-IN" dirty="0"/>
              <a:t>The system provides real-time feedback such as:</a:t>
            </a:r>
          </a:p>
          <a:p>
            <a:r>
              <a:rPr lang="en-IN" dirty="0"/>
              <a:t>Break suggestions</a:t>
            </a:r>
          </a:p>
          <a:p>
            <a:r>
              <a:rPr lang="en-IN" dirty="0"/>
              <a:t>Attention alerts</a:t>
            </a:r>
          </a:p>
          <a:p>
            <a:r>
              <a:rPr lang="en-IN" dirty="0"/>
              <a:t>Content simplification</a:t>
            </a:r>
          </a:p>
          <a:p>
            <a:r>
              <a:rPr lang="en-IN" dirty="0"/>
              <a:t>Interactive prompts</a:t>
            </a:r>
          </a:p>
          <a:p>
            <a:pPr marL="0" indent="0">
              <a:buNone/>
            </a:pPr>
            <a:r>
              <a:rPr lang="en-IN" b="1" dirty="0"/>
              <a:t>Software / Tools Used:</a:t>
            </a:r>
            <a:endParaRPr lang="en-IN" dirty="0"/>
          </a:p>
          <a:p>
            <a:r>
              <a:rPr lang="en-IN" dirty="0"/>
              <a:t>JavaScript alert functions</a:t>
            </a:r>
          </a:p>
          <a:p>
            <a:r>
              <a:rPr lang="en-IN" dirty="0"/>
              <a:t>CSS animations</a:t>
            </a:r>
          </a:p>
          <a:p>
            <a:r>
              <a:rPr lang="en-IN" dirty="0"/>
              <a:t>HTML pop-ups or modal boxes</a:t>
            </a:r>
          </a:p>
          <a:p>
            <a:endParaRPr lang="en-IN" dirty="0"/>
          </a:p>
        </p:txBody>
      </p:sp>
    </p:spTree>
    <p:extLst>
      <p:ext uri="{BB962C8B-B14F-4D97-AF65-F5344CB8AC3E}">
        <p14:creationId xmlns:p14="http://schemas.microsoft.com/office/powerpoint/2010/main" val="2488111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C9FAE-C685-2942-D3D4-216A6AC18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4B33A6-B209-82E0-3AC4-ED0F2117C15F}"/>
              </a:ext>
            </a:extLst>
          </p:cNvPr>
          <p:cNvSpPr>
            <a:spLocks noGrp="1"/>
          </p:cNvSpPr>
          <p:nvPr>
            <p:ph type="title"/>
          </p:nvPr>
        </p:nvSpPr>
        <p:spPr>
          <a:xfrm>
            <a:off x="4969329" y="173798"/>
            <a:ext cx="10515600" cy="1325563"/>
          </a:xfrm>
        </p:spPr>
        <p:txBody>
          <a:bodyPr/>
          <a:lstStyle/>
          <a:p>
            <a:r>
              <a:rPr lang="en-IN" dirty="0"/>
              <a:t>Result </a:t>
            </a:r>
          </a:p>
        </p:txBody>
      </p:sp>
      <p:pic>
        <p:nvPicPr>
          <p:cNvPr id="5" name="Picture 4">
            <a:extLst>
              <a:ext uri="{FF2B5EF4-FFF2-40B4-BE49-F238E27FC236}">
                <a16:creationId xmlns:a16="http://schemas.microsoft.com/office/drawing/2014/main" id="{E3E61BDD-01A8-20AE-39E4-1825771C10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615" y="1690688"/>
            <a:ext cx="4829456" cy="4993514"/>
          </a:xfrm>
          <a:prstGeom prst="rect">
            <a:avLst/>
          </a:prstGeom>
        </p:spPr>
      </p:pic>
    </p:spTree>
    <p:extLst>
      <p:ext uri="{BB962C8B-B14F-4D97-AF65-F5344CB8AC3E}">
        <p14:creationId xmlns:p14="http://schemas.microsoft.com/office/powerpoint/2010/main" val="36456711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71EA620-C5E2-CB6A-B7BD-46F1186E427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6530" y="317094"/>
            <a:ext cx="3613969" cy="5969860"/>
          </a:xfrm>
          <a:prstGeom prst="rect">
            <a:avLst/>
          </a:prstGeom>
        </p:spPr>
      </p:pic>
      <p:sp>
        <p:nvSpPr>
          <p:cNvPr id="6" name="TextBox 5">
            <a:extLst>
              <a:ext uri="{FF2B5EF4-FFF2-40B4-BE49-F238E27FC236}">
                <a16:creationId xmlns:a16="http://schemas.microsoft.com/office/drawing/2014/main" id="{B62ADBCF-F054-364B-D483-D44D6E2B47C8}"/>
              </a:ext>
            </a:extLst>
          </p:cNvPr>
          <p:cNvSpPr txBox="1"/>
          <p:nvPr/>
        </p:nvSpPr>
        <p:spPr>
          <a:xfrm>
            <a:off x="4474029" y="767443"/>
            <a:ext cx="7331441" cy="4031873"/>
          </a:xfrm>
          <a:prstGeom prst="rect">
            <a:avLst/>
          </a:prstGeom>
          <a:noFill/>
        </p:spPr>
        <p:txBody>
          <a:bodyPr wrap="square" rtlCol="0">
            <a:spAutoFit/>
          </a:bodyPr>
          <a:lstStyle/>
          <a:p>
            <a:r>
              <a:rPr lang="en-US" sz="2800" b="1" dirty="0"/>
              <a:t>Focus Level Over Time</a:t>
            </a:r>
            <a:br>
              <a:rPr lang="en-US" sz="2800" dirty="0"/>
            </a:br>
            <a:r>
              <a:rPr lang="en-US" sz="2800" dirty="0"/>
              <a:t>– Shows how focus changes during the session</a:t>
            </a:r>
            <a:br>
              <a:rPr lang="en-US" sz="2800" dirty="0"/>
            </a:br>
            <a:r>
              <a:rPr lang="en-US" sz="2800" dirty="0"/>
              <a:t>– X-axis → Time (seconds)</a:t>
            </a:r>
            <a:br>
              <a:rPr lang="en-US" sz="2800" dirty="0"/>
            </a:br>
            <a:r>
              <a:rPr lang="en-US" sz="2800" dirty="0"/>
              <a:t>– Y-axis → Focus %</a:t>
            </a:r>
          </a:p>
          <a:p>
            <a:r>
              <a:rPr lang="en-US" sz="2800" dirty="0"/>
              <a:t> </a:t>
            </a:r>
            <a:r>
              <a:rPr lang="en-US" sz="2800" b="1" dirty="0"/>
              <a:t>Cognitive Load Classification</a:t>
            </a:r>
            <a:br>
              <a:rPr lang="en-US" sz="2800" dirty="0"/>
            </a:br>
            <a:r>
              <a:rPr lang="en-US" sz="2800" dirty="0"/>
              <a:t>– Shows detected load category</a:t>
            </a:r>
            <a:br>
              <a:rPr lang="en-US" sz="2800" dirty="0"/>
            </a:br>
            <a:r>
              <a:rPr lang="en-US" sz="2800" dirty="0"/>
              <a:t>– Based on final focus value</a:t>
            </a:r>
          </a:p>
          <a:p>
            <a:endParaRPr lang="en-IN" dirty="0"/>
          </a:p>
          <a:p>
            <a:endParaRPr lang="en-IN" dirty="0"/>
          </a:p>
          <a:p>
            <a:r>
              <a:rPr lang="en-IN" sz="2400" dirty="0"/>
              <a:t>Result will be downloaded as the following graphs </a:t>
            </a:r>
          </a:p>
        </p:txBody>
      </p:sp>
    </p:spTree>
    <p:extLst>
      <p:ext uri="{BB962C8B-B14F-4D97-AF65-F5344CB8AC3E}">
        <p14:creationId xmlns:p14="http://schemas.microsoft.com/office/powerpoint/2010/main" val="18026263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19452-3000-DF4A-F633-2C06CB0E4BBE}"/>
              </a:ext>
            </a:extLst>
          </p:cNvPr>
          <p:cNvSpPr>
            <a:spLocks noGrp="1"/>
          </p:cNvSpPr>
          <p:nvPr>
            <p:ph type="title"/>
          </p:nvPr>
        </p:nvSpPr>
        <p:spPr>
          <a:xfrm>
            <a:off x="4691742" y="0"/>
            <a:ext cx="10515600" cy="1325563"/>
          </a:xfrm>
        </p:spPr>
        <p:txBody>
          <a:bodyPr/>
          <a:lstStyle/>
          <a:p>
            <a:r>
              <a:rPr lang="en-US" dirty="0"/>
              <a:t>Outcome </a:t>
            </a:r>
          </a:p>
        </p:txBody>
      </p:sp>
      <p:sp>
        <p:nvSpPr>
          <p:cNvPr id="3" name="Content Placeholder 2">
            <a:extLst>
              <a:ext uri="{FF2B5EF4-FFF2-40B4-BE49-F238E27FC236}">
                <a16:creationId xmlns:a16="http://schemas.microsoft.com/office/drawing/2014/main" id="{996084D1-BF8A-599C-4DEE-5FD15C78EC1C}"/>
              </a:ext>
            </a:extLst>
          </p:cNvPr>
          <p:cNvSpPr>
            <a:spLocks noGrp="1"/>
          </p:cNvSpPr>
          <p:nvPr>
            <p:ph idx="1"/>
          </p:nvPr>
        </p:nvSpPr>
        <p:spPr>
          <a:xfrm>
            <a:off x="0" y="1208314"/>
            <a:ext cx="12192000" cy="5649685"/>
          </a:xfrm>
        </p:spPr>
        <p:txBody>
          <a:bodyPr>
            <a:normAutofit fontScale="47500" lnSpcReduction="20000"/>
          </a:bodyPr>
          <a:lstStyle/>
          <a:p>
            <a:pPr marL="0" indent="0">
              <a:buNone/>
            </a:pPr>
            <a:r>
              <a:rPr lang="en-US" sz="6000" b="1" dirty="0"/>
              <a:t>                         </a:t>
            </a:r>
            <a:r>
              <a:rPr lang="en-US" sz="6700" b="1" dirty="0"/>
              <a:t>Achievements Completed in Current Semester</a:t>
            </a:r>
          </a:p>
          <a:p>
            <a:pPr marL="0" indent="0">
              <a:buNone/>
            </a:pPr>
            <a:endParaRPr lang="en-US" sz="6700" b="1" dirty="0"/>
          </a:p>
          <a:p>
            <a:r>
              <a:rPr lang="en-US" sz="6000" b="1" dirty="0"/>
              <a:t>Working UI Prototype Developed</a:t>
            </a:r>
          </a:p>
          <a:p>
            <a:pPr marL="457200" lvl="1" indent="0">
              <a:buNone/>
            </a:pPr>
            <a:r>
              <a:rPr lang="en-US" sz="6000" dirty="0"/>
              <a:t>Designed and implemented a responsive front-end interface using:</a:t>
            </a:r>
          </a:p>
          <a:p>
            <a:pPr marL="457200" lvl="1" indent="0">
              <a:buNone/>
            </a:pPr>
            <a:r>
              <a:rPr lang="en-US" sz="6000" dirty="0"/>
              <a:t>Created a professional dashboard-style layout.</a:t>
            </a:r>
          </a:p>
          <a:p>
            <a:r>
              <a:rPr lang="en-US" sz="6000" b="1" dirty="0"/>
              <a:t>Data Visualization</a:t>
            </a:r>
            <a:endParaRPr lang="en-US" sz="6000" dirty="0"/>
          </a:p>
          <a:p>
            <a:pPr lvl="1"/>
            <a:r>
              <a:rPr lang="en-US" sz="6000" dirty="0"/>
              <a:t>Generated graphical representation of:</a:t>
            </a:r>
          </a:p>
          <a:p>
            <a:pPr lvl="2"/>
            <a:r>
              <a:rPr lang="en-US" sz="6000" dirty="0"/>
              <a:t>Focus level over time</a:t>
            </a:r>
          </a:p>
          <a:p>
            <a:pPr lvl="2"/>
            <a:r>
              <a:rPr lang="en-US" sz="6000" dirty="0"/>
              <a:t>Cognitive load classification</a:t>
            </a:r>
          </a:p>
          <a:p>
            <a:pPr lvl="1"/>
            <a:r>
              <a:rPr lang="en-US" sz="6000" dirty="0"/>
              <a:t>Used plotting techniques to visualize session performance.</a:t>
            </a:r>
          </a:p>
          <a:p>
            <a:r>
              <a:rPr lang="en-US" sz="6000" b="1" dirty="0"/>
              <a:t>Git Version Control Integration</a:t>
            </a:r>
            <a:endParaRPr lang="en-US" sz="6000" dirty="0"/>
          </a:p>
          <a:p>
            <a:pPr lvl="1"/>
            <a:r>
              <a:rPr lang="en-US" sz="6000" dirty="0"/>
              <a:t>Project structured and updated using Git.</a:t>
            </a:r>
          </a:p>
          <a:p>
            <a:pPr lvl="1"/>
            <a:r>
              <a:rPr lang="en-US" sz="6000" dirty="0"/>
              <a:t>Version tracking implemented for incremental improvements.</a:t>
            </a:r>
          </a:p>
          <a:p>
            <a:pPr marL="457200" lvl="1" indent="0">
              <a:buNone/>
            </a:pPr>
            <a:endParaRPr lang="en-US" dirty="0"/>
          </a:p>
          <a:p>
            <a:pPr marL="0" indent="0">
              <a:buNone/>
            </a:pPr>
            <a:endParaRPr lang="en-US" dirty="0"/>
          </a:p>
        </p:txBody>
      </p:sp>
    </p:spTree>
    <p:extLst>
      <p:ext uri="{BB962C8B-B14F-4D97-AF65-F5344CB8AC3E}">
        <p14:creationId xmlns:p14="http://schemas.microsoft.com/office/powerpoint/2010/main" val="21549569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28571-F348-F1DD-737F-689FB2E8154A}"/>
              </a:ext>
            </a:extLst>
          </p:cNvPr>
          <p:cNvSpPr>
            <a:spLocks noGrp="1"/>
          </p:cNvSpPr>
          <p:nvPr>
            <p:ph type="title"/>
          </p:nvPr>
        </p:nvSpPr>
        <p:spPr/>
        <p:txBody>
          <a:bodyPr>
            <a:normAutofit/>
          </a:bodyPr>
          <a:lstStyle/>
          <a:p>
            <a:r>
              <a:rPr lang="en-US" sz="4000" b="1" dirty="0"/>
              <a:t>Outcomes to Be Achieved by Next Semester</a:t>
            </a:r>
            <a:endParaRPr lang="en-IN" sz="4000" b="1" dirty="0"/>
          </a:p>
        </p:txBody>
      </p:sp>
      <p:sp>
        <p:nvSpPr>
          <p:cNvPr id="3" name="Content Placeholder 2">
            <a:extLst>
              <a:ext uri="{FF2B5EF4-FFF2-40B4-BE49-F238E27FC236}">
                <a16:creationId xmlns:a16="http://schemas.microsoft.com/office/drawing/2014/main" id="{E3EC5686-5B91-9C1A-AC60-115BFD21BFF3}"/>
              </a:ext>
            </a:extLst>
          </p:cNvPr>
          <p:cNvSpPr>
            <a:spLocks noGrp="1"/>
          </p:cNvSpPr>
          <p:nvPr>
            <p:ph idx="1"/>
          </p:nvPr>
        </p:nvSpPr>
        <p:spPr/>
        <p:txBody>
          <a:bodyPr>
            <a:normAutofit/>
          </a:bodyPr>
          <a:lstStyle/>
          <a:p>
            <a:r>
              <a:rPr lang="en-US" b="1" dirty="0"/>
              <a:t>Real-Time Sensor Integration</a:t>
            </a:r>
            <a:endParaRPr lang="en-US" dirty="0"/>
          </a:p>
          <a:p>
            <a:pPr marL="0" indent="0">
              <a:buNone/>
            </a:pPr>
            <a:r>
              <a:rPr lang="en-US" dirty="0"/>
              <a:t>Integration of real-time biometric or behavioral data:</a:t>
            </a:r>
          </a:p>
          <a:p>
            <a:pPr lvl="1"/>
            <a:r>
              <a:rPr lang="en-US" dirty="0"/>
              <a:t>Eye tracking</a:t>
            </a:r>
          </a:p>
          <a:p>
            <a:pPr lvl="1"/>
            <a:r>
              <a:rPr lang="en-US" dirty="0"/>
              <a:t>Keystroke analysis</a:t>
            </a:r>
          </a:p>
          <a:p>
            <a:pPr lvl="1"/>
            <a:r>
              <a:rPr lang="en-US" dirty="0"/>
              <a:t>Attention monitoring techniques</a:t>
            </a:r>
          </a:p>
          <a:p>
            <a:pPr lvl="1"/>
            <a:r>
              <a:rPr lang="en-US" dirty="0"/>
              <a:t>Improve accuracy of focus detection.</a:t>
            </a:r>
          </a:p>
          <a:p>
            <a:pPr lvl="1"/>
            <a:endParaRPr lang="en-US" dirty="0"/>
          </a:p>
          <a:p>
            <a:r>
              <a:rPr lang="en-US" b="1" dirty="0"/>
              <a:t>Automated Report Generation</a:t>
            </a:r>
            <a:endParaRPr lang="en-US" dirty="0"/>
          </a:p>
          <a:p>
            <a:pPr marL="0" indent="0">
              <a:buNone/>
            </a:pPr>
            <a:r>
              <a:rPr lang="en-US" dirty="0"/>
              <a:t>Generate downloadable PDF session reports.</a:t>
            </a:r>
          </a:p>
          <a:p>
            <a:pPr marL="0" indent="0">
              <a:buNone/>
            </a:pPr>
            <a:r>
              <a:rPr lang="en-US" dirty="0"/>
              <a:t>Include performance summary and analytics.</a:t>
            </a:r>
          </a:p>
          <a:p>
            <a:pPr marL="457200" lvl="1" indent="0">
              <a:buNone/>
            </a:pPr>
            <a:endParaRPr lang="en-US" dirty="0"/>
          </a:p>
          <a:p>
            <a:pPr marL="0" indent="0">
              <a:buNone/>
            </a:pPr>
            <a:endParaRPr lang="en-IN" dirty="0"/>
          </a:p>
        </p:txBody>
      </p:sp>
    </p:spTree>
    <p:extLst>
      <p:ext uri="{BB962C8B-B14F-4D97-AF65-F5344CB8AC3E}">
        <p14:creationId xmlns:p14="http://schemas.microsoft.com/office/powerpoint/2010/main" val="19337965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5325-4A51-AE05-7BE6-440D74D0BCB6}"/>
              </a:ext>
            </a:extLst>
          </p:cNvPr>
          <p:cNvSpPr>
            <a:spLocks noGrp="1"/>
          </p:cNvSpPr>
          <p:nvPr>
            <p:ph type="title"/>
          </p:nvPr>
        </p:nvSpPr>
        <p:spPr/>
        <p:txBody>
          <a:bodyPr>
            <a:normAutofit/>
          </a:bodyPr>
          <a:lstStyle/>
          <a:p>
            <a:r>
              <a:rPr lang="en-IN" sz="5400" b="1" dirty="0"/>
              <a:t>Conclusion &amp; Future Scope</a:t>
            </a:r>
          </a:p>
        </p:txBody>
      </p:sp>
      <p:sp>
        <p:nvSpPr>
          <p:cNvPr id="3" name="Content Placeholder 2">
            <a:extLst>
              <a:ext uri="{FF2B5EF4-FFF2-40B4-BE49-F238E27FC236}">
                <a16:creationId xmlns:a16="http://schemas.microsoft.com/office/drawing/2014/main" id="{A6188C38-4C0A-7C78-2FF6-39EB62252E81}"/>
              </a:ext>
            </a:extLst>
          </p:cNvPr>
          <p:cNvSpPr>
            <a:spLocks noGrp="1"/>
          </p:cNvSpPr>
          <p:nvPr>
            <p:ph idx="1"/>
          </p:nvPr>
        </p:nvSpPr>
        <p:spPr/>
        <p:txBody>
          <a:bodyPr/>
          <a:lstStyle/>
          <a:p>
            <a:pPr marL="0" indent="0">
              <a:buNone/>
            </a:pPr>
            <a:r>
              <a:rPr lang="en-US" dirty="0"/>
              <a:t>• Cognitive Load Detection can transform how ADHD and learning disorders are managed.</a:t>
            </a:r>
          </a:p>
          <a:p>
            <a:pPr marL="0" indent="0">
              <a:buNone/>
            </a:pPr>
            <a:r>
              <a:rPr lang="en-US" dirty="0"/>
              <a:t>• Future developments:</a:t>
            </a:r>
          </a:p>
          <a:p>
            <a:pPr marL="0" indent="0">
              <a:buNone/>
            </a:pPr>
            <a:r>
              <a:rPr lang="en-US" dirty="0"/>
              <a:t>  - Emotion-aware AI tutors</a:t>
            </a:r>
          </a:p>
          <a:p>
            <a:pPr marL="0" indent="0">
              <a:buNone/>
            </a:pPr>
            <a:r>
              <a:rPr lang="en-US" dirty="0"/>
              <a:t>  - Non-invasive</a:t>
            </a:r>
          </a:p>
          <a:p>
            <a:pPr marL="0" indent="0">
              <a:buNone/>
            </a:pPr>
            <a:r>
              <a:rPr lang="en-US" dirty="0"/>
              <a:t>• Goal: Create a more inclusive, personalized, and effective learning environment.</a:t>
            </a:r>
          </a:p>
          <a:p>
            <a:pPr marL="0" indent="0">
              <a:buNone/>
            </a:pPr>
            <a:endParaRPr lang="en-IN" dirty="0"/>
          </a:p>
        </p:txBody>
      </p:sp>
    </p:spTree>
    <p:extLst>
      <p:ext uri="{BB962C8B-B14F-4D97-AF65-F5344CB8AC3E}">
        <p14:creationId xmlns:p14="http://schemas.microsoft.com/office/powerpoint/2010/main" val="27249175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208BD6-2A31-5677-2B53-FD39A887D102}"/>
              </a:ext>
            </a:extLst>
          </p:cNvPr>
          <p:cNvSpPr>
            <a:spLocks noGrp="1"/>
          </p:cNvSpPr>
          <p:nvPr>
            <p:ph type="title"/>
          </p:nvPr>
        </p:nvSpPr>
        <p:spPr>
          <a:xfrm>
            <a:off x="4512128" y="2766218"/>
            <a:ext cx="5257800" cy="1325563"/>
          </a:xfrm>
        </p:spPr>
        <p:txBody>
          <a:bodyPr/>
          <a:lstStyle/>
          <a:p>
            <a:r>
              <a:rPr lang="en-IN" b="1" dirty="0"/>
              <a:t>Thank You</a:t>
            </a:r>
          </a:p>
        </p:txBody>
      </p:sp>
    </p:spTree>
    <p:extLst>
      <p:ext uri="{BB962C8B-B14F-4D97-AF65-F5344CB8AC3E}">
        <p14:creationId xmlns:p14="http://schemas.microsoft.com/office/powerpoint/2010/main" val="2374710685"/>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docProps/app.xml><?xml version="1.0" encoding="utf-8"?>
<Properties xmlns="http://schemas.openxmlformats.org/officeDocument/2006/extended-properties" xmlns:vt="http://schemas.openxmlformats.org/officeDocument/2006/docPropsVTypes">
  <Template>Integral</Template>
  <TotalTime>138</TotalTime>
  <Words>909</Words>
  <Application>Microsoft Office PowerPoint</Application>
  <PresentationFormat>Widescreen</PresentationFormat>
  <Paragraphs>119</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Tw Cen MT</vt:lpstr>
      <vt:lpstr>Tw Cen MT Condensed</vt:lpstr>
      <vt:lpstr>Wingdings</vt:lpstr>
      <vt:lpstr>Wingdings 3</vt:lpstr>
      <vt:lpstr>Integral</vt:lpstr>
      <vt:lpstr>Focus Detection for ADHD / Learning Disorders</vt:lpstr>
      <vt:lpstr>Presentation Roadmap</vt:lpstr>
      <vt:lpstr>Introduction</vt:lpstr>
      <vt:lpstr>Literature Review</vt:lpstr>
      <vt:lpstr>PowerPoint Presentation</vt:lpstr>
      <vt:lpstr>Problem Statement</vt:lpstr>
      <vt:lpstr>Objectives</vt:lpstr>
      <vt:lpstr>Proposed Methodology </vt:lpstr>
      <vt:lpstr>PowerPoint Presentation</vt:lpstr>
      <vt:lpstr>PowerPoint Presentation</vt:lpstr>
      <vt:lpstr>PowerPoint Presentation</vt:lpstr>
      <vt:lpstr>Result </vt:lpstr>
      <vt:lpstr>PowerPoint Presentation</vt:lpstr>
      <vt:lpstr>Outcome </vt:lpstr>
      <vt:lpstr>Outcomes to Be Achieved by Next Semester</vt:lpstr>
      <vt:lpstr>Conclusion &amp; Future Scope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Akshay Jadhav [MU - Jaipur]</dc:creator>
  <cp:lastModifiedBy>prisharma1312@gmail.com</cp:lastModifiedBy>
  <cp:revision>12</cp:revision>
  <dcterms:created xsi:type="dcterms:W3CDTF">2025-09-29T05:03:41Z</dcterms:created>
  <dcterms:modified xsi:type="dcterms:W3CDTF">2026-02-14T12:27:45Z</dcterms:modified>
</cp:coreProperties>
</file>